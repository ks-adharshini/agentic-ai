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1"/>
  </p:notesMasterIdLst>
  <p:handoutMasterIdLst>
    <p:handoutMasterId r:id="rId22"/>
  </p:handoutMasterIdLst>
  <p:sldIdLst>
    <p:sldId id="256" r:id="rId5"/>
    <p:sldId id="271" r:id="rId6"/>
    <p:sldId id="279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4" r:id="rId15"/>
    <p:sldId id="290" r:id="rId16"/>
    <p:sldId id="291" r:id="rId17"/>
    <p:sldId id="292" r:id="rId18"/>
    <p:sldId id="293" r:id="rId19"/>
    <p:sldId id="28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Morph, Annotate, Work Together, Tell Me" id="{B9B51309-D148-4332-87C2-07BE32FBCA3B}">
          <p14:sldIdLst>
            <p14:sldId id="271"/>
            <p14:sldId id="279"/>
            <p14:sldId id="283"/>
            <p14:sldId id="284"/>
            <p14:sldId id="285"/>
            <p14:sldId id="286"/>
            <p14:sldId id="287"/>
            <p14:sldId id="288"/>
            <p14:sldId id="289"/>
            <p14:sldId id="294"/>
            <p14:sldId id="290"/>
            <p14:sldId id="291"/>
            <p14:sldId id="292"/>
            <p14:sldId id="293"/>
          </p14:sldIdLst>
        </p14:section>
        <p14:section name="Learn More" id="{2CC34DB2-6590-42C0-AD4B-A04C6060184E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FFFFFF"/>
    <a:srgbClr val="404040"/>
    <a:srgbClr val="FF9B45"/>
    <a:srgbClr val="DD462F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41" autoAdjust="0"/>
  </p:normalViewPr>
  <p:slideViewPr>
    <p:cSldViewPr snapToGrid="0">
      <p:cViewPr varScale="1">
        <p:scale>
          <a:sx n="84" d="100"/>
          <a:sy n="84" d="100"/>
        </p:scale>
        <p:origin x="658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9/3/2026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780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9/3/2026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S0xme9IQV8IOXFgydPK6rC7XAk9iqJIT?usp=sharin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044" y="341560"/>
            <a:ext cx="10515600" cy="2679099"/>
          </a:xfrm>
        </p:spPr>
        <p:txBody>
          <a:bodyPr anchor="ctr" anchorCtr="0">
            <a:normAutofit/>
          </a:bodyPr>
          <a:lstStyle/>
          <a:p>
            <a:r>
              <a:rPr lang="en-IN" sz="5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Multi-Agent Data Sharing Systems</a:t>
            </a:r>
            <a:br>
              <a:rPr lang="en-IN" sz="5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P2P and Blackboard Architectures</a:t>
            </a:r>
            <a:endParaRPr lang="en-US" sz="5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19044" y="2497790"/>
            <a:ext cx="9582736" cy="2679100"/>
          </a:xfrm>
        </p:spPr>
        <p:txBody>
          <a:bodyPr>
            <a:noAutofit/>
          </a:bodyPr>
          <a:lstStyle/>
          <a:p>
            <a:r>
              <a:rPr lang="en-IN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Presentation</a:t>
            </a:r>
          </a:p>
          <a:p>
            <a:r>
              <a:rPr lang="en-IN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1: College Data Sharing System – P2P</a:t>
            </a:r>
            <a:br>
              <a:rPr lang="en-IN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2: Hospital Management System – Blackboard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65DBA67-AB5D-2834-7C06-ECC6996F945E}"/>
              </a:ext>
            </a:extLst>
          </p:cNvPr>
          <p:cNvSpPr txBox="1">
            <a:spLocks/>
          </p:cNvSpPr>
          <p:nvPr/>
        </p:nvSpPr>
        <p:spPr>
          <a:xfrm>
            <a:off x="8465608" y="5099397"/>
            <a:ext cx="2869036" cy="12099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Adharshini KS</a:t>
            </a:r>
          </a:p>
          <a:p>
            <a:r>
              <a:rPr lang="en-IN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23ALR002</a:t>
            </a:r>
            <a:endParaRPr lang="en-US" sz="3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21207" y="448056"/>
            <a:ext cx="10192513" cy="640080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 College Data Sharing System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541609" y="1524708"/>
            <a:ext cx="11162711" cy="51504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Data Sharing System</a:t>
            </a:r>
          </a:p>
          <a:p>
            <a:pPr lvl="0">
              <a:lnSpc>
                <a:spcPct val="100000"/>
              </a:lnSpc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a Peer-to-Peer architecture for sharing college information. </a:t>
            </a:r>
          </a:p>
          <a:p>
            <a:pPr lvl="0">
              <a:lnSpc>
                <a:spcPct val="100000"/>
              </a:lnSpc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four independent agents: Student, Faculty, Library, and Placement. </a:t>
            </a:r>
          </a:p>
          <a:p>
            <a:pPr lvl="0">
              <a:lnSpc>
                <a:spcPct val="100000"/>
              </a:lnSpc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agent manages its own specific information and services. </a:t>
            </a:r>
          </a:p>
          <a:p>
            <a:pPr lvl="0">
              <a:lnSpc>
                <a:spcPct val="100000"/>
              </a:lnSpc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Agents can directly request and exchange information with other agents.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Goal 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decentralized communication and data sharing between multiple intelligent agents.</a:t>
            </a:r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8571993" cy="640080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Content Placeholder 17"/>
          <p:cNvSpPr txBox="1">
            <a:spLocks/>
          </p:cNvSpPr>
          <p:nvPr/>
        </p:nvSpPr>
        <p:spPr>
          <a:xfrm>
            <a:off x="521207" y="1363370"/>
            <a:ext cx="10728641" cy="51796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lvl="0">
              <a:lnSpc>
                <a:spcPct val="100000"/>
              </a:lnSpc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departments maintain different types of information independently. </a:t>
            </a:r>
          </a:p>
          <a:p>
            <a:pPr lvl="0">
              <a:lnSpc>
                <a:spcPct val="100000"/>
              </a:lnSpc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Sharing information between departments can require multiple intermediaries.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lvl="0">
              <a:lnSpc>
                <a:spcPct val="100000"/>
              </a:lnSpc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multi-agent system using P2P architecture. </a:t>
            </a:r>
          </a:p>
          <a:p>
            <a:pPr lvl="0">
              <a:lnSpc>
                <a:spcPct val="100000"/>
              </a:lnSpc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every agent to directly communicate with every other agent. </a:t>
            </a:r>
          </a:p>
          <a:p>
            <a:pPr lvl="0">
              <a:lnSpc>
                <a:spcPct val="100000"/>
              </a:lnSpc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agents to request, process, and share information. </a:t>
            </a:r>
          </a:p>
          <a:p>
            <a:pPr lvl="0">
              <a:lnSpc>
                <a:spcPct val="100000"/>
              </a:lnSpc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decentralized collaboration between college departments.</a:t>
            </a:r>
          </a:p>
        </p:txBody>
      </p:sp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55565-0448-DBB4-56C3-34DF09EA9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215C46-87D3-847A-232C-72A9464E5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 Architecture 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Content Placeholder 17">
            <a:extLst>
              <a:ext uri="{FF2B5EF4-FFF2-40B4-BE49-F238E27FC236}">
                <a16:creationId xmlns:a16="http://schemas.microsoft.com/office/drawing/2014/main" id="{CB38B00A-2C25-411E-1D9E-A3D7F0A1A048}"/>
              </a:ext>
            </a:extLst>
          </p:cNvPr>
          <p:cNvSpPr txBox="1">
            <a:spLocks/>
          </p:cNvSpPr>
          <p:nvPr/>
        </p:nvSpPr>
        <p:spPr>
          <a:xfrm>
            <a:off x="757079" y="1536090"/>
            <a:ext cx="10677841" cy="42337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7373F4-9A8B-C2B0-6C63-3155BB7D77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666" t="6533" r="25111" b="3112"/>
          <a:stretch>
            <a:fillRect/>
          </a:stretch>
        </p:blipFill>
        <p:spPr>
          <a:xfrm>
            <a:off x="6540028" y="735922"/>
            <a:ext cx="5364445" cy="59595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8BF9A6-535B-F6AF-7483-FD6459D6E284}"/>
              </a:ext>
            </a:extLst>
          </p:cNvPr>
          <p:cNvSpPr txBox="1"/>
          <p:nvPr/>
        </p:nvSpPr>
        <p:spPr>
          <a:xfrm>
            <a:off x="416722" y="1383690"/>
            <a:ext cx="6148703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Network 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agent acts as an independent peer without a central controller.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Agent Communication 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agent can communicate directly with other agents to exchange information.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Agents 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agent performs its own specific task and manages its own operations.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Sharing 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Agents share required data directly with other agents in the network.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Processing 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agents can perform different tasks simultaneously</a:t>
            </a:r>
          </a:p>
          <a:p>
            <a:pPr marL="457200" indent="-457200">
              <a:buFont typeface="+mj-lt"/>
              <a:buAutoNum type="arabicPeriod"/>
            </a:pP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642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243F2-6FBD-0374-10F5-929B0BC68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EB3EAE-288E-F12B-1B5C-D1D380686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 Agents &amp; Responsibilities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BE03C7E-2F4C-1CCF-7DFA-127A17CB3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777296"/>
              </p:ext>
            </p:extLst>
          </p:nvPr>
        </p:nvGraphicFramePr>
        <p:xfrm>
          <a:off x="1031875" y="1463040"/>
          <a:ext cx="10128250" cy="393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64125">
                  <a:extLst>
                    <a:ext uri="{9D8B030D-6E8A-4147-A177-3AD203B41FA5}">
                      <a16:colId xmlns:a16="http://schemas.microsoft.com/office/drawing/2014/main" val="2959578312"/>
                    </a:ext>
                  </a:extLst>
                </a:gridCol>
                <a:gridCol w="5064125">
                  <a:extLst>
                    <a:ext uri="{9D8B030D-6E8A-4147-A177-3AD203B41FA5}">
                      <a16:colId xmlns:a16="http://schemas.microsoft.com/office/drawing/2014/main" val="352105715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35266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🎓 Student 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details and academic information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9267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👨‍🏫 Faculty 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Faculty and academic information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39757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📚 Library 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Books, borrowing, and availability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876822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💼 Placement 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Eligibility and placement opportunities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95068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6C8AAA0-E327-DBC4-A91B-68AAC3DEC8BE}"/>
              </a:ext>
            </a:extLst>
          </p:cNvPr>
          <p:cNvSpPr txBox="1"/>
          <p:nvPr/>
        </p:nvSpPr>
        <p:spPr>
          <a:xfrm>
            <a:off x="1036320" y="5521236"/>
            <a:ext cx="1022985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Agents in College System 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agent has independent responsibilities and data, but can directly communicate with all other agents.</a:t>
            </a:r>
          </a:p>
        </p:txBody>
      </p:sp>
    </p:spTree>
    <p:extLst>
      <p:ext uri="{BB962C8B-B14F-4D97-AF65-F5344CB8AC3E}">
        <p14:creationId xmlns:p14="http://schemas.microsoft.com/office/powerpoint/2010/main" val="406491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ACC60-BB9E-0F9B-3B2C-79750574B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9A340D-4E07-66BB-9B55-1ECF32130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7789673" cy="640080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 Communication Workflow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519D8A-AD5C-F56C-EAFC-2EAC832785C0}"/>
              </a:ext>
            </a:extLst>
          </p:cNvPr>
          <p:cNvSpPr txBox="1"/>
          <p:nvPr/>
        </p:nvSpPr>
        <p:spPr>
          <a:xfrm>
            <a:off x="521207" y="1561019"/>
            <a:ext cx="6837680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Placement Eligibility</a:t>
            </a:r>
          </a:p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Query: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whether Student S101 is eligible for placement.</a:t>
            </a:r>
          </a:p>
          <a:p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is initiated by an agent.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 peer agents receive the request.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agent independently processes the request.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Responses are returned directly.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is combined to produce the result.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D2DB26-BEA4-0177-5B60-F26ACB8DB0C4}"/>
              </a:ext>
            </a:extLst>
          </p:cNvPr>
          <p:cNvSpPr txBox="1"/>
          <p:nvPr/>
        </p:nvSpPr>
        <p:spPr>
          <a:xfrm>
            <a:off x="7183121" y="1676436"/>
            <a:ext cx="481584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Agent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│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├──────────► Faculty Agent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│      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│         CGPA / Attendance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│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├──────────► Library Agent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│      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│         Library Status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│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└──────────► Placement Agent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Eligibility Check</a:t>
            </a:r>
          </a:p>
        </p:txBody>
      </p:sp>
    </p:spTree>
    <p:extLst>
      <p:ext uri="{BB962C8B-B14F-4D97-AF65-F5344CB8AC3E}">
        <p14:creationId xmlns:p14="http://schemas.microsoft.com/office/powerpoint/2010/main" val="3232999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6E093-0417-3DA2-9A95-6CC6E68A9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0BF6E03-AD40-8FD5-A86E-6AB21EFF6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958073" cy="640080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 Example &amp; Expected Result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357E34A-401D-FCEC-D826-E8B84B061D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676517"/>
              </p:ext>
            </p:extLst>
          </p:nvPr>
        </p:nvGraphicFramePr>
        <p:xfrm>
          <a:off x="583818" y="1585276"/>
          <a:ext cx="11039222" cy="2910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19611">
                  <a:extLst>
                    <a:ext uri="{9D8B030D-6E8A-4147-A177-3AD203B41FA5}">
                      <a16:colId xmlns:a16="http://schemas.microsoft.com/office/drawing/2014/main" val="3462214624"/>
                    </a:ext>
                  </a:extLst>
                </a:gridCol>
                <a:gridCol w="5519611">
                  <a:extLst>
                    <a:ext uri="{9D8B030D-6E8A-4147-A177-3AD203B41FA5}">
                      <a16:colId xmlns:a16="http://schemas.microsoft.com/office/drawing/2014/main" val="3001731141"/>
                    </a:ext>
                  </a:extLst>
                </a:gridCol>
              </a:tblGrid>
              <a:tr h="4436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908560"/>
                  </a:ext>
                </a:extLst>
              </a:tr>
              <a:tr h="4436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CGPA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402973"/>
                  </a:ext>
                </a:extLst>
              </a:tr>
              <a:tr h="4436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Attendance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866758"/>
                  </a:ext>
                </a:extLst>
              </a:tr>
              <a:tr h="4436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Library Fine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706754"/>
                  </a:ext>
                </a:extLst>
              </a:tr>
              <a:tr h="4436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Pending Books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230331"/>
                  </a:ext>
                </a:extLst>
              </a:tr>
              <a:tr h="4436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Placement Criteria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CGPA ≥ 7.5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15215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54EFF0E-8DBB-4F42-7CE8-CB7D4DB516BC}"/>
              </a:ext>
            </a:extLst>
          </p:cNvPr>
          <p:cNvSpPr txBox="1"/>
          <p:nvPr/>
        </p:nvSpPr>
        <p:spPr>
          <a:xfrm>
            <a:off x="660400" y="4649476"/>
            <a:ext cx="413512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S101 Final Result</a:t>
            </a:r>
          </a:p>
          <a:p>
            <a:pPr>
              <a:buNone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PLACEMENT ELIGIBLE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4569FC-36E3-8C1C-B0C8-225BFC28E02F}"/>
              </a:ext>
            </a:extLst>
          </p:cNvPr>
          <p:cNvSpPr txBox="1"/>
          <p:nvPr/>
        </p:nvSpPr>
        <p:spPr>
          <a:xfrm>
            <a:off x="6451600" y="4649476"/>
            <a:ext cx="659384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Benefit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Decentralized communication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agent interaction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data management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information sharing</a:t>
            </a:r>
          </a:p>
        </p:txBody>
      </p:sp>
    </p:spTree>
    <p:extLst>
      <p:ext uri="{BB962C8B-B14F-4D97-AF65-F5344CB8AC3E}">
        <p14:creationId xmlns:p14="http://schemas.microsoft.com/office/powerpoint/2010/main" val="3340827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4C623-DF25-A8C0-4B50-1DEB0CCBB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6E68B69-2CF6-09B9-BD1A-869441458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7596633" cy="640080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Blackboard Project Introduction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6A9BE1-33FD-D642-CA4F-A1D67F483957}"/>
              </a:ext>
            </a:extLst>
          </p:cNvPr>
          <p:cNvSpPr txBox="1"/>
          <p:nvPr/>
        </p:nvSpPr>
        <p:spPr>
          <a:xfrm>
            <a:off x="746760" y="1426756"/>
            <a:ext cx="1075436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Management System</a:t>
            </a:r>
          </a:p>
          <a:p>
            <a:pPr lvl="0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Blackboard Architecture for centralized knowledge sharing. </a:t>
            </a:r>
          </a:p>
          <a:p>
            <a:pPr lvl="0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specialized agents collaborate through a common Blackboard. </a:t>
            </a:r>
          </a:p>
          <a:p>
            <a:pPr lvl="0"/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Agents</a:t>
            </a:r>
          </a:p>
          <a:p>
            <a:pPr lvl="0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🩺 Doctor Agent </a:t>
            </a:r>
          </a:p>
          <a:p>
            <a:pPr lvl="0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🧪 Laboratory Agent </a:t>
            </a:r>
          </a:p>
          <a:p>
            <a:pPr lvl="0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💊 Pharmacy Agent </a:t>
            </a:r>
          </a:p>
          <a:p>
            <a:pPr lvl="0"/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💰 Billing Agent </a:t>
            </a:r>
          </a:p>
          <a:p>
            <a:pPr lvl="0"/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Goal</a:t>
            </a: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indirect communication and collaborative decision-making through a shared knowledge repository.</a:t>
            </a:r>
          </a:p>
        </p:txBody>
      </p:sp>
    </p:spTree>
    <p:extLst>
      <p:ext uri="{BB962C8B-B14F-4D97-AF65-F5344CB8AC3E}">
        <p14:creationId xmlns:p14="http://schemas.microsoft.com/office/powerpoint/2010/main" val="1706148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872E8-9870-165B-7DE7-B8D10A87D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9E8DE9-F65E-5437-0F11-53A4EB5DD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7992873" cy="640080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60DF0C-5DD4-1AA7-C526-5DA7C04284E3}"/>
              </a:ext>
            </a:extLst>
          </p:cNvPr>
          <p:cNvSpPr txBox="1"/>
          <p:nvPr/>
        </p:nvSpPr>
        <p:spPr>
          <a:xfrm>
            <a:off x="746760" y="1426756"/>
            <a:ext cx="1086612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information is generated by multiple departments.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Doctors, laboratories, pharmacies, and billing systems need to share patient information. </a:t>
            </a:r>
          </a:p>
          <a:p>
            <a:pPr lvl="0"/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shared Blackboard for hospital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specialized agents to read and update shared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agents to collaborate without direct agent-to-agent connections.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complete patient-care and billing workflow.</a:t>
            </a:r>
          </a:p>
        </p:txBody>
      </p:sp>
    </p:spTree>
    <p:extLst>
      <p:ext uri="{BB962C8B-B14F-4D97-AF65-F5344CB8AC3E}">
        <p14:creationId xmlns:p14="http://schemas.microsoft.com/office/powerpoint/2010/main" val="850069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AF5026-C410-1D77-7A26-E691C78E1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27CDA2-E336-AD76-669B-CA8E690B6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Blackboard Architecture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AB9BB8-F7D2-8A17-3FAF-7CE3A1EF2C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99" t="5332" r="2494" b="27260"/>
          <a:stretch>
            <a:fillRect/>
          </a:stretch>
        </p:blipFill>
        <p:spPr>
          <a:xfrm>
            <a:off x="1183640" y="1341120"/>
            <a:ext cx="9824720" cy="46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958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8DF0CD-2B67-371C-C4E5-19FD72527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AFB820-E6AE-8BA8-F309-8DD059BAF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Blackboard Architecture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A524A2-8595-C2C3-FEEA-25F6F1AC418B}"/>
              </a:ext>
            </a:extLst>
          </p:cNvPr>
          <p:cNvSpPr txBox="1"/>
          <p:nvPr/>
        </p:nvSpPr>
        <p:spPr>
          <a:xfrm>
            <a:off x="521207" y="1422400"/>
            <a:ext cx="10942320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Blackboard 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shared repository stores all information required by different agents.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Interaction 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Agents read information from and write updates to the Blackboard.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Knowledge 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agents access the latest available data from a common knowledge source.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Coordination 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Agents coordinate their tasks by using information posted by other agents.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Processing 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agents can work simultaneously using the shared information.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 Management 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maintained in one common location, reducing duplication and inconsistency.</a:t>
            </a:r>
          </a:p>
          <a:p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50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48B7A-ADB4-B4C5-4A09-84A75A4DC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AB74EB-36A0-9222-D26F-D6C517B43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019033" cy="640080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Blackboard Agents &amp; Responsibilities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1FCCD81-C8B4-641C-55C2-214CD495EE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878515"/>
              </p:ext>
            </p:extLst>
          </p:nvPr>
        </p:nvGraphicFramePr>
        <p:xfrm>
          <a:off x="732790" y="1630997"/>
          <a:ext cx="10097770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48885">
                  <a:extLst>
                    <a:ext uri="{9D8B030D-6E8A-4147-A177-3AD203B41FA5}">
                      <a16:colId xmlns:a16="http://schemas.microsoft.com/office/drawing/2014/main" val="1033988378"/>
                    </a:ext>
                  </a:extLst>
                </a:gridCol>
                <a:gridCol w="5048885">
                  <a:extLst>
                    <a:ext uri="{9D8B030D-6E8A-4147-A177-3AD203B41FA5}">
                      <a16:colId xmlns:a16="http://schemas.microsoft.com/office/drawing/2014/main" val="405009417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3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36637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🩺 Doctor 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Diagnosis and treatment planning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19216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🧪 Laboratory 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Medical tests and results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945869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💊 Pharmacy 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Prescriptions and medicine availability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40666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💰 Billing 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Treatment, test, and medicine charges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67856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ECDEC1A-5BBF-EE17-96E2-CA48BC94E332}"/>
              </a:ext>
            </a:extLst>
          </p:cNvPr>
          <p:cNvSpPr txBox="1"/>
          <p:nvPr/>
        </p:nvSpPr>
        <p:spPr>
          <a:xfrm>
            <a:off x="962977" y="5298757"/>
            <a:ext cx="1026604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 : 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agent contributes its specialized knowledge to the shared Blackboard.</a:t>
            </a:r>
          </a:p>
        </p:txBody>
      </p:sp>
    </p:spTree>
    <p:extLst>
      <p:ext uri="{BB962C8B-B14F-4D97-AF65-F5344CB8AC3E}">
        <p14:creationId xmlns:p14="http://schemas.microsoft.com/office/powerpoint/2010/main" val="3284755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DD675-CDC8-CC33-56FC-7B1758D9C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1BFA9D-4AD6-0948-3EE1-AD360532A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937753" cy="640080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Blackboard Communication Workflow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4D49F3-8319-FA32-50C1-2DEA763DDF22}"/>
              </a:ext>
            </a:extLst>
          </p:cNvPr>
          <p:cNvSpPr txBox="1"/>
          <p:nvPr/>
        </p:nvSpPr>
        <p:spPr>
          <a:xfrm>
            <a:off x="746760" y="1426756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Information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Blackboard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Doctor Agent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Diagnosis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Blackboard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Laboratory Agent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Test Results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Blackboard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Pharmacy Agent 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89BD6C-D265-356C-AACA-1BE52D828DE5}"/>
              </a:ext>
            </a:extLst>
          </p:cNvPr>
          <p:cNvSpPr txBox="1"/>
          <p:nvPr/>
        </p:nvSpPr>
        <p:spPr>
          <a:xfrm>
            <a:off x="5704840" y="1426756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Patient Treatment</a:t>
            </a:r>
          </a:p>
          <a:p>
            <a:endParaRPr lang="en-IN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information is added to the Blackboard.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Agent reads the patient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 and treatment details are added.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Agent updates test results.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Pharmacy Agent updates prescription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 Agent calculates the final cost.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3B4B07-2139-F70E-9A72-5B850AC7C50A}"/>
              </a:ext>
            </a:extLst>
          </p:cNvPr>
          <p:cNvSpPr txBox="1"/>
          <p:nvPr/>
        </p:nvSpPr>
        <p:spPr>
          <a:xfrm>
            <a:off x="3048000" y="1426756"/>
            <a:ext cx="22758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Prescription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Blackboard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Billing Agent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↓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Final Bill</a:t>
            </a:r>
          </a:p>
        </p:txBody>
      </p:sp>
    </p:spTree>
    <p:extLst>
      <p:ext uri="{BB962C8B-B14F-4D97-AF65-F5344CB8AC3E}">
        <p14:creationId xmlns:p14="http://schemas.microsoft.com/office/powerpoint/2010/main" val="607249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279FC-9242-F076-012C-7136DE668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FDA891-7EE8-B1BA-8E98-D37EB15C9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161273" cy="640080"/>
          </a:xfrm>
        </p:spPr>
        <p:txBody>
          <a:bodyPr>
            <a:no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Blackboard Example &amp; Expected Result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B1E32A-DBFF-2F96-66EC-3D4BE40E5EC8}"/>
              </a:ext>
            </a:extLst>
          </p:cNvPr>
          <p:cNvSpPr txBox="1"/>
          <p:nvPr/>
        </p:nvSpPr>
        <p:spPr>
          <a:xfrm>
            <a:off x="746760" y="1426756"/>
            <a:ext cx="6096000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P101</a:t>
            </a:r>
          </a:p>
          <a:p>
            <a:endParaRPr lang="en-IN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Agent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Diagnosis: Infection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Treatment: Antibiotics</a:t>
            </a: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Laboratory Agent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Blood Test: Completed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Result: Abnormal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FA32CE-6435-B31B-751F-2D3C22C25E40}"/>
              </a:ext>
            </a:extLst>
          </p:cNvPr>
          <p:cNvSpPr txBox="1"/>
          <p:nvPr/>
        </p:nvSpPr>
        <p:spPr>
          <a:xfrm>
            <a:off x="6355080" y="1996208"/>
            <a:ext cx="6096000" cy="293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Pharmacy Agent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Medicine: Antibiotics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Availability: Available</a:t>
            </a:r>
          </a:p>
          <a:p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 Agent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Consultation: ₹500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Test: ₹800</a:t>
            </a:r>
            <a:b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Medicine: ₹600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8DAF69-8361-29B2-245C-A5F2CC814A17}"/>
              </a:ext>
            </a:extLst>
          </p:cNvPr>
          <p:cNvSpPr txBox="1"/>
          <p:nvPr/>
        </p:nvSpPr>
        <p:spPr>
          <a:xfrm>
            <a:off x="817880" y="4807996"/>
            <a:ext cx="91186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Bill</a:t>
            </a:r>
          </a:p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= ₹1,900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information is maintained through the Blackboard.</a:t>
            </a:r>
          </a:p>
        </p:txBody>
      </p:sp>
    </p:spTree>
    <p:extLst>
      <p:ext uri="{BB962C8B-B14F-4D97-AF65-F5344CB8AC3E}">
        <p14:creationId xmlns:p14="http://schemas.microsoft.com/office/powerpoint/2010/main" val="2848616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63C8F-1549-1DC6-6584-6F72DA695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0E10F84-CA97-2A6F-23A5-CCDA9086A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748850-4D74-F2BF-5BF8-8DB9A5027819}"/>
              </a:ext>
            </a:extLst>
          </p:cNvPr>
          <p:cNvSpPr txBox="1"/>
          <p:nvPr/>
        </p:nvSpPr>
        <p:spPr>
          <a:xfrm>
            <a:off x="746760" y="1426756"/>
            <a:ext cx="101854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P2P architecture demonstrates decentralized communication between independent agents.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Blackboard architecture demonstrates centralized knowledge sharing between specialized agents.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systems demonstrate how multiple agents can collaborate to solve real-world problems.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projects show practical applications of Agentic AI and Multi-Agent Systems.</a:t>
            </a:r>
          </a:p>
        </p:txBody>
      </p:sp>
    </p:spTree>
    <p:extLst>
      <p:ext uri="{BB962C8B-B14F-4D97-AF65-F5344CB8AC3E}">
        <p14:creationId xmlns:p14="http://schemas.microsoft.com/office/powerpoint/2010/main" val="404114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2" name="Title 9">
            <a:extLst>
              <a:ext uri="{FF2B5EF4-FFF2-40B4-BE49-F238E27FC236}">
                <a16:creationId xmlns:a16="http://schemas.microsoft.com/office/drawing/2014/main" id="{65EA872D-D178-292B-C517-E4F435D44E56}"/>
              </a:ext>
            </a:extLst>
          </p:cNvPr>
          <p:cNvSpPr txBox="1">
            <a:spLocks/>
          </p:cNvSpPr>
          <p:nvPr/>
        </p:nvSpPr>
        <p:spPr>
          <a:xfrm>
            <a:off x="521208" y="2517648"/>
            <a:ext cx="1071676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D247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dirty="0" err="1">
                <a:solidFill>
                  <a:srgbClr val="D247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dirty="0">
                <a:solidFill>
                  <a:srgbClr val="D247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Links,</a:t>
            </a:r>
          </a:p>
        </p:txBody>
      </p:sp>
      <p:sp>
        <p:nvSpPr>
          <p:cNvPr id="5" name="Title 9">
            <a:extLst>
              <a:ext uri="{FF2B5EF4-FFF2-40B4-BE49-F238E27FC236}">
                <a16:creationId xmlns:a16="http://schemas.microsoft.com/office/drawing/2014/main" id="{3F2846BA-514A-28AD-45EC-BAF97F6E8131}"/>
              </a:ext>
            </a:extLst>
          </p:cNvPr>
          <p:cNvSpPr txBox="1">
            <a:spLocks/>
          </p:cNvSpPr>
          <p:nvPr/>
        </p:nvSpPr>
        <p:spPr>
          <a:xfrm>
            <a:off x="521208" y="3264410"/>
            <a:ext cx="1071676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55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D24726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https://colab.research.google.com/drive/1S0xme9IQV8IOXFgydPK6rC7XAk9iqJIT?usp=sharing</a:t>
            </a:r>
            <a:endParaRPr lang="en-US" dirty="0">
              <a:solidFill>
                <a:srgbClr val="D247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9">
            <a:extLst>
              <a:ext uri="{FF2B5EF4-FFF2-40B4-BE49-F238E27FC236}">
                <a16:creationId xmlns:a16="http://schemas.microsoft.com/office/drawing/2014/main" id="{C643C26E-2946-02CF-034B-1F1C4178AC94}"/>
              </a:ext>
            </a:extLst>
          </p:cNvPr>
          <p:cNvSpPr txBox="1">
            <a:spLocks/>
          </p:cNvSpPr>
          <p:nvPr/>
        </p:nvSpPr>
        <p:spPr>
          <a:xfrm>
            <a:off x="521208" y="4267203"/>
            <a:ext cx="1071676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55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D247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https://colab.research.google.com/drive/1KZX9-cf1h83ftcE8ovBvHThdWsOt6yEA?usp=sharing</a:t>
            </a:r>
          </a:p>
        </p:txBody>
      </p:sp>
      <p:sp>
        <p:nvSpPr>
          <p:cNvPr id="7" name="Title 9">
            <a:extLst>
              <a:ext uri="{FF2B5EF4-FFF2-40B4-BE49-F238E27FC236}">
                <a16:creationId xmlns:a16="http://schemas.microsoft.com/office/drawing/2014/main" id="{5DB6BBE0-317D-1967-804D-D242DB23B6C8}"/>
              </a:ext>
            </a:extLst>
          </p:cNvPr>
          <p:cNvSpPr txBox="1">
            <a:spLocks/>
          </p:cNvSpPr>
          <p:nvPr/>
        </p:nvSpPr>
        <p:spPr>
          <a:xfrm>
            <a:off x="521208" y="2965705"/>
            <a:ext cx="395020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solidFill>
                  <a:srgbClr val="D247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P2P Architecture</a:t>
            </a:r>
          </a:p>
        </p:txBody>
      </p:sp>
      <p:sp>
        <p:nvSpPr>
          <p:cNvPr id="9" name="Title 9">
            <a:extLst>
              <a:ext uri="{FF2B5EF4-FFF2-40B4-BE49-F238E27FC236}">
                <a16:creationId xmlns:a16="http://schemas.microsoft.com/office/drawing/2014/main" id="{D6A5BC44-BED8-F06B-EAFC-22FAB399C28E}"/>
              </a:ext>
            </a:extLst>
          </p:cNvPr>
          <p:cNvSpPr txBox="1">
            <a:spLocks/>
          </p:cNvSpPr>
          <p:nvPr/>
        </p:nvSpPr>
        <p:spPr>
          <a:xfrm>
            <a:off x="521208" y="3968496"/>
            <a:ext cx="395020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>
                <a:solidFill>
                  <a:srgbClr val="D247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Blackboard Architecture</a:t>
            </a:r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70F98ADC-D1C3-4C0C-C156-C329A9B937A4}"/>
              </a:ext>
            </a:extLst>
          </p:cNvPr>
          <p:cNvSpPr txBox="1">
            <a:spLocks/>
          </p:cNvSpPr>
          <p:nvPr/>
        </p:nvSpPr>
        <p:spPr>
          <a:xfrm>
            <a:off x="521208" y="5123692"/>
            <a:ext cx="395020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D247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8" name="Title 9">
            <a:extLst>
              <a:ext uri="{FF2B5EF4-FFF2-40B4-BE49-F238E27FC236}">
                <a16:creationId xmlns:a16="http://schemas.microsoft.com/office/drawing/2014/main" id="{CBAB1B58-C4C4-B9A0-BBFC-5CE4D2EB41FF}"/>
              </a:ext>
            </a:extLst>
          </p:cNvPr>
          <p:cNvSpPr txBox="1">
            <a:spLocks/>
          </p:cNvSpPr>
          <p:nvPr/>
        </p:nvSpPr>
        <p:spPr>
          <a:xfrm>
            <a:off x="557784" y="5416300"/>
            <a:ext cx="1071676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rgbClr val="D247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https://github.com/KS-Adharshini/Agentic-AI.git</a:t>
            </a:r>
          </a:p>
        </p:txBody>
      </p:sp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{48272042-58FA-4B1D-92A9-3B9AC8777EB8}TF2989475c-5427-4edb-9ec1-00f4ce72165b77c8433f_win32-c33c42577f73</Template>
  <TotalTime>1048</TotalTime>
  <Words>981</Words>
  <Application>Microsoft Office PowerPoint</Application>
  <PresentationFormat>Widescreen</PresentationFormat>
  <Paragraphs>193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Segoe UI</vt:lpstr>
      <vt:lpstr>Segoe UI Light</vt:lpstr>
      <vt:lpstr>Times New Roman</vt:lpstr>
      <vt:lpstr>Custom</vt:lpstr>
      <vt:lpstr>Multi-Agent Data Sharing Systems P2P and Blackboard Architectures</vt:lpstr>
      <vt:lpstr>P2P College Data Sharing System</vt:lpstr>
      <vt:lpstr>Problem Statement &amp; Objective</vt:lpstr>
      <vt:lpstr>P2P Architecture </vt:lpstr>
      <vt:lpstr>P2P Agents &amp; Responsibilities</vt:lpstr>
      <vt:lpstr>P2P Communication Workflow</vt:lpstr>
      <vt:lpstr>P2P Example &amp; Expected Result</vt:lpstr>
      <vt:lpstr>Blackboard Project Introduction</vt:lpstr>
      <vt:lpstr>Problem Statement &amp; Objective</vt:lpstr>
      <vt:lpstr>Blackboard Architecture</vt:lpstr>
      <vt:lpstr>Blackboard Architecture</vt:lpstr>
      <vt:lpstr>Blackboard Agents &amp; Responsibilities</vt:lpstr>
      <vt:lpstr>Blackboard Communication Workflow</vt:lpstr>
      <vt:lpstr>Blackboard Example &amp; Expected Result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adharshiniks015@gmail.com</dc:creator>
  <cp:keywords/>
  <cp:lastModifiedBy>adharshiniks015@gmail.com</cp:lastModifiedBy>
  <cp:revision>4</cp:revision>
  <dcterms:created xsi:type="dcterms:W3CDTF">2026-08-31T11:50:52Z</dcterms:created>
  <dcterms:modified xsi:type="dcterms:W3CDTF">2026-09-03T06:51:51Z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